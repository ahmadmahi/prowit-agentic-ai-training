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webp" ContentType="image/webp"/>
  <Override PartName="/ppt/media/image7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6" r:id="rId3"/>
    <p:sldId id="280" r:id="rId4"/>
    <p:sldId id="281" r:id="rId5"/>
    <p:sldId id="282" r:id="rId6"/>
    <p:sldId id="283" r:id="rId7"/>
    <p:sldId id="284" r:id="rId8"/>
    <p:sldId id="317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320" r:id="rId17"/>
    <p:sldId id="292" r:id="rId18"/>
    <p:sldId id="319" r:id="rId19"/>
    <p:sldId id="318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E"/>
    <a:srgbClr val="E6EAE6"/>
    <a:srgbClr val="AA9D67"/>
    <a:srgbClr val="3A543B"/>
    <a:srgbClr val="EEEFEE"/>
    <a:srgbClr val="FFFFFF"/>
    <a:srgbClr val="F0F0F0"/>
    <a:srgbClr val="E4E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136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web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eb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5090" y="3340100"/>
            <a:ext cx="10515600" cy="1325563"/>
          </a:xfrm>
        </p:spPr>
        <p:txBody>
          <a:bodyPr/>
          <a:p>
            <a:r>
              <a:rPr>
                <a:sym typeface="+mn-ea"/>
              </a:rPr>
              <a:t>Introduction to LangGraph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Graph-Based Orchestration for LLM Applications</a:t>
            </a:r>
          </a:p>
          <a:p>
            <a:pPr lvl="1"/>
            <a:r>
              <a:t>Stateful Workflows</a:t>
            </a:r>
          </a:p>
          <a:p>
            <a:pPr lvl="1"/>
            <a:r>
              <a:t>Production-Grade Agent Systems</a:t>
            </a:r>
          </a:p>
          <a:p>
            <a:pPr lvl="1"/>
            <a:r>
              <a:t>FDE Perspective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Why LangGraph?</a:t>
            </a:r>
          </a:p>
          <a:p>
            <a:pPr lvl="1"/>
            <a:r>
              <a:t>Core Concepts</a:t>
            </a:r>
          </a:p>
          <a:p>
            <a:pPr lvl="1"/>
            <a:r>
              <a:t>Architecture Deep Dive</a:t>
            </a:r>
          </a:p>
          <a:p>
            <a:pPr lvl="1"/>
            <a:r>
              <a:t>Design Patterns</a:t>
            </a:r>
          </a:p>
          <a:p>
            <a:pPr lvl="1"/>
            <a:r>
              <a:t>Production Readiness</a:t>
            </a:r>
          </a:p>
          <a:p>
            <a:pPr lvl="1"/>
            <a:r>
              <a:t>FDE Benefits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LLM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→ Response Systems</a:t>
            </a:r>
          </a:p>
          <a:p>
            <a:pPr lvl="1"/>
            <a:r>
              <a:t>Linear Chains</a:t>
            </a:r>
          </a:p>
          <a:p>
            <a:pPr lvl="1"/>
            <a:r>
              <a:t>Autonomous Agents</a:t>
            </a:r>
          </a:p>
          <a:p>
            <a:pPr lvl="1"/>
            <a:r>
              <a:t>Graph-Based Stateful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Challenges in LLM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Uncontrolled agent loops</a:t>
            </a:r>
          </a:p>
          <a:p>
            <a:pPr lvl="1"/>
            <a:r>
              <a:t>Lack of deterministic workflows</a:t>
            </a:r>
          </a:p>
          <a:p>
            <a:pPr lvl="1"/>
            <a:r>
              <a:t>Difficult debugging</a:t>
            </a:r>
          </a:p>
          <a:p>
            <a:pPr lvl="1"/>
            <a:r>
              <a:t>Poor observability</a:t>
            </a:r>
          </a:p>
          <a:p>
            <a:pPr lvl="1"/>
            <a:r>
              <a:t>Limited state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LangGraph?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to solve orchestration issues</a:t>
            </a:r>
          </a:p>
          <a:p>
            <a:pPr lvl="1"/>
            <a:r>
              <a:t>Combines determinism + flexibility</a:t>
            </a:r>
          </a:p>
          <a:p>
            <a:pPr lvl="1"/>
            <a:r>
              <a:t>Adds structured state management</a:t>
            </a:r>
          </a:p>
          <a:p>
            <a:pPr lvl="1"/>
            <a:r>
              <a:t>Designed for production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LangGraph?</a:t>
            </a: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85115" y="1407795"/>
            <a:ext cx="11671935" cy="5045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LangGraph?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Graph-based orchestration framework</a:t>
            </a:r>
          </a:p>
          <a:p>
            <a:pPr lvl="1"/>
            <a:r>
              <a:t>Built for multi-step reasoning</a:t>
            </a:r>
          </a:p>
          <a:p>
            <a:pPr lvl="1"/>
            <a:r>
              <a:t>Supports conditional routing</a:t>
            </a:r>
          </a:p>
          <a:p>
            <a:pPr lvl="1"/>
            <a:r>
              <a:t>Enables loop control and state persistence</a:t>
            </a: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5404485" y="3429000"/>
            <a:ext cx="6032500" cy="30568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Overview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815" y="1541780"/>
            <a:ext cx="9055735" cy="50914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object passed across nodes</a:t>
            </a:r>
          </a:p>
          <a:p>
            <a:pPr lvl="1"/>
            <a:r>
              <a:t>Maintains memory across steps</a:t>
            </a:r>
          </a:p>
          <a:p>
            <a:pPr lvl="1"/>
            <a:r>
              <a:t>Improves reproducibility</a:t>
            </a:r>
          </a:p>
          <a:p>
            <a:pPr lvl="1"/>
            <a:r>
              <a:t>Enables observability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018155" y="3719830"/>
            <a:ext cx="7384415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 computation units</a:t>
            </a:r>
          </a:p>
          <a:p>
            <a:pPr lvl="1"/>
            <a:r>
              <a:t>LLM calls</a:t>
            </a:r>
          </a:p>
          <a:p>
            <a:pPr lvl="1"/>
            <a:r>
              <a:t>Tool calls</a:t>
            </a:r>
          </a:p>
          <a:p>
            <a:pPr lvl="1"/>
            <a:r>
              <a:t>Custom logic functions</a:t>
            </a:r>
          </a:p>
          <a:p>
            <a:pPr lvl="1"/>
            <a:r>
              <a:t>Retrieval components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446655" y="4030345"/>
            <a:ext cx="7563485" cy="21469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execution flow</a:t>
            </a:r>
          </a:p>
          <a:p>
            <a:pPr lvl="1"/>
            <a:r>
              <a:t>Static edges</a:t>
            </a:r>
          </a:p>
          <a:p>
            <a:pPr lvl="1"/>
            <a:r>
              <a:t>Conditional edges</a:t>
            </a:r>
          </a:p>
          <a:p>
            <a:pPr lvl="1"/>
            <a:r>
              <a:t>Enable dynamic transitions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526155" y="3429000"/>
            <a:ext cx="7579360" cy="25387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at entry point</a:t>
            </a:r>
          </a:p>
          <a:p>
            <a:pPr lvl="1"/>
            <a:r>
              <a:t>Node updates state</a:t>
            </a:r>
          </a:p>
          <a:p>
            <a:pPr lvl="1"/>
            <a:r>
              <a:t>Edge determines next step</a:t>
            </a:r>
          </a:p>
          <a:p>
            <a:pPr lvl="1"/>
            <a:r>
              <a:t>Continue until termination condition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vs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Chains are linear</a:t>
            </a:r>
          </a:p>
          <a:p>
            <a:pPr lvl="1"/>
            <a:r>
              <a:t>Graphs allow branching</a:t>
            </a:r>
          </a:p>
          <a:p>
            <a:pPr lvl="1"/>
            <a:r>
              <a:t>Graphs allow loops</a:t>
            </a:r>
          </a:p>
          <a:p>
            <a:pPr lvl="1"/>
            <a:r>
              <a:t>Graphs enable complex workflows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250315" y="522605"/>
            <a:ext cx="10040620" cy="54908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183640" y="441960"/>
            <a:ext cx="9611360" cy="5974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569720" y="1832610"/>
            <a:ext cx="8756015" cy="38277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697990" y="558800"/>
            <a:ext cx="8392160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+ Agent Hybrid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workflow sections</a:t>
            </a:r>
          </a:p>
          <a:p>
            <a:pPr lvl="1"/>
            <a:r>
              <a:t>Agent-driven decision nodes</a:t>
            </a:r>
          </a:p>
          <a:p>
            <a:pPr lvl="1"/>
            <a:r>
              <a:t>Controlled loop limits</a:t>
            </a:r>
          </a:p>
          <a:p>
            <a:pPr lvl="1"/>
            <a:r>
              <a:t>Safe production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A → Node B → Node C</a:t>
            </a:r>
          </a:p>
          <a:p>
            <a:pPr lvl="1"/>
            <a:r>
              <a:t>Best for fixed pipelines</a:t>
            </a:r>
          </a:p>
          <a:p>
            <a:pPr lvl="1"/>
            <a:r>
              <a:t>Used in data transformations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Routing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 Node decides next step</a:t>
            </a:r>
          </a:p>
          <a:p>
            <a:pPr lvl="1"/>
            <a:r>
              <a:t>Used in multi-intent handling</a:t>
            </a:r>
          </a:p>
          <a:p>
            <a:pPr lvl="1"/>
            <a:r>
              <a:t>Tool selection workflows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Iterative refinement</a:t>
            </a:r>
          </a:p>
          <a:p>
            <a:pPr lvl="1"/>
            <a:r>
              <a:t>Tool retries</a:t>
            </a:r>
          </a:p>
          <a:p>
            <a:pPr lvl="1"/>
            <a:r>
              <a:t>Self-correction workflows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Planner → Executor → Critic</a:t>
            </a:r>
          </a:p>
          <a:p>
            <a:pPr lvl="1"/>
            <a:r>
              <a:t>Self-evaluation systems</a:t>
            </a:r>
          </a:p>
          <a:p>
            <a:pPr lvl="1"/>
            <a:r>
              <a:t>Guardrail enforcement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RAG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</a:t>
            </a:r>
          </a:p>
          <a:p>
            <a:pPr lvl="1"/>
            <a:r>
              <a:t>Classifier</a:t>
            </a:r>
          </a:p>
          <a:p>
            <a:pPr lvl="1"/>
            <a:r>
              <a:t>Retriever</a:t>
            </a:r>
          </a:p>
          <a:p>
            <a:pPr lvl="1"/>
            <a:r>
              <a:t>Re-ranker</a:t>
            </a:r>
          </a:p>
          <a:p>
            <a:pPr lvl="1"/>
            <a:r>
              <a:t>LLM Generator</a:t>
            </a:r>
          </a:p>
          <a:p>
            <a:pPr lvl="1"/>
            <a:r>
              <a:t>Judge</a:t>
            </a:r>
          </a:p>
          <a:p>
            <a:pPr lvl="1"/>
            <a:r>
              <a:t>Final Response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Orchestration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assistant workflow</a:t>
            </a:r>
          </a:p>
          <a:p>
            <a:pPr lvl="1"/>
            <a:r>
              <a:t>Pricing API call</a:t>
            </a:r>
          </a:p>
          <a:p>
            <a:pPr lvl="1"/>
            <a:r>
              <a:t>Compliance validation</a:t>
            </a:r>
          </a:p>
          <a:p>
            <a:pPr lvl="1"/>
            <a:r>
              <a:t>Summary generation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Inspect state per node</a:t>
            </a:r>
          </a:p>
          <a:p>
            <a:pPr lvl="1"/>
            <a:r>
              <a:t>Trace transitions</a:t>
            </a:r>
          </a:p>
          <a:p>
            <a:pPr lvl="1"/>
            <a:r>
              <a:t>Log intermediate outputs</a:t>
            </a:r>
          </a:p>
          <a:p>
            <a:pPr lvl="1"/>
            <a:r>
              <a:t>Production debugging support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Fallback nodes</a:t>
            </a:r>
          </a:p>
          <a:p>
            <a:pPr lvl="1"/>
            <a:r>
              <a:t>Retry loops</a:t>
            </a:r>
          </a:p>
          <a:p>
            <a:pPr lvl="1"/>
            <a:r>
              <a:t>Timeout handling</a:t>
            </a:r>
          </a:p>
          <a:p>
            <a:pPr lvl="1"/>
            <a:r>
              <a:t>Safe termination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 branches</a:t>
            </a:r>
          </a:p>
          <a:p>
            <a:pPr lvl="1"/>
            <a:r>
              <a:t>Independent node scaling</a:t>
            </a:r>
          </a:p>
          <a:p>
            <a:pPr lvl="1"/>
            <a:r>
              <a:t>Modular architecture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 multi-step workflows</a:t>
            </a:r>
          </a:p>
          <a:p>
            <a:pPr lvl="1"/>
            <a:r>
              <a:t>Tool orchestration</a:t>
            </a:r>
          </a:p>
          <a:p>
            <a:pPr lvl="1"/>
            <a:r>
              <a:t>Enterprise-grade systems</a:t>
            </a:r>
          </a:p>
          <a:p>
            <a:pPr lvl="1"/>
            <a:r>
              <a:t>Systems requiring auditability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chatbot applications</a:t>
            </a:r>
          </a:p>
          <a:p>
            <a:pPr lvl="1"/>
            <a:r>
              <a:t>Single-step prompt systems</a:t>
            </a:r>
          </a:p>
          <a:p>
            <a:pPr lvl="1"/>
            <a:r>
              <a:t>Static workflows without branching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FDE Role in LLM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architecture design</a:t>
            </a:r>
          </a:p>
          <a:p>
            <a:pPr lvl="1"/>
            <a:r>
              <a:t>Production debugging</a:t>
            </a:r>
          </a:p>
          <a:p>
            <a:pPr lvl="1"/>
            <a:r>
              <a:t>Workflow customization</a:t>
            </a:r>
          </a:p>
          <a:p>
            <a:pPr lvl="1"/>
            <a:r>
              <a:t>Enterprise compliance handling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LangGraph is Valuable for FDEs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workflow diagrams</a:t>
            </a:r>
          </a:p>
          <a:p>
            <a:pPr lvl="1"/>
            <a:r>
              <a:t>Controlled orchestration</a:t>
            </a:r>
          </a:p>
          <a:p>
            <a:pPr lvl="1"/>
            <a:r>
              <a:t>Reusable graph modules</a:t>
            </a:r>
          </a:p>
          <a:p>
            <a:pPr lvl="1"/>
            <a:r>
              <a:t>Easier client communication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Reproducible execution paths</a:t>
            </a:r>
          </a:p>
          <a:p>
            <a:pPr lvl="1"/>
            <a:r>
              <a:t>State inspection</a:t>
            </a:r>
          </a:p>
          <a:p>
            <a:pPr lvl="1"/>
            <a:r>
              <a:t>Node-level visibility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Mandatory validation nodes</a:t>
            </a:r>
          </a:p>
          <a:p>
            <a:pPr lvl="1"/>
            <a:r>
              <a:t>Structured execution flow</a:t>
            </a:r>
          </a:p>
          <a:p>
            <a:pPr lvl="1"/>
            <a:r>
              <a:t>Audit-friendly architecture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 optimization</a:t>
            </a:r>
          </a:p>
          <a:p>
            <a:pPr lvl="1"/>
            <a:r>
              <a:t>Re-ranking tuning</a:t>
            </a:r>
          </a:p>
          <a:p>
            <a:pPr lvl="1"/>
            <a:r>
              <a:t>LLM selection per node</a:t>
            </a:r>
          </a:p>
          <a:p>
            <a:pPr lvl="1"/>
            <a:r>
              <a:t>Parallel execution strategies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RAG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Chunking and embedding nodes</a:t>
            </a:r>
          </a:p>
          <a:p>
            <a:pPr lvl="1"/>
            <a:r>
              <a:t>Vector retrieval node</a:t>
            </a:r>
          </a:p>
          <a:p>
            <a:pPr lvl="1"/>
            <a:r>
              <a:t>Re-ranking node</a:t>
            </a:r>
          </a:p>
          <a:p>
            <a:pPr lvl="1"/>
            <a:r>
              <a:t>Generation node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Tool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 decision node</a:t>
            </a:r>
          </a:p>
          <a:p>
            <a:pPr lvl="1"/>
            <a:r>
              <a:t>Tool execution node</a:t>
            </a:r>
          </a:p>
          <a:p>
            <a:pPr lvl="1"/>
            <a:r>
              <a:t>Validation node</a:t>
            </a:r>
          </a:p>
          <a:p>
            <a:pPr lvl="1"/>
            <a:r>
              <a:t>Response synthesis node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</a:t>
            </a:r>
          </a:p>
          <a:p>
            <a:pPr lvl="1"/>
            <a:r>
              <a:t>Backend API</a:t>
            </a:r>
          </a:p>
          <a:p>
            <a:pPr lvl="1"/>
            <a:r>
              <a:t>LangGraph Orchestrator</a:t>
            </a:r>
          </a:p>
          <a:p>
            <a:pPr lvl="1"/>
            <a:r>
              <a:t>Model APIs</a:t>
            </a:r>
          </a:p>
          <a:p>
            <a:pPr lvl="1"/>
            <a:r>
              <a:t>Database + Vector Store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LLM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agents</a:t>
            </a:r>
          </a:p>
          <a:p>
            <a:pPr lvl="1"/>
            <a:r>
              <a:t>Controlled autonomy</a:t>
            </a:r>
          </a:p>
          <a:p>
            <a:pPr lvl="1"/>
            <a:r>
              <a:t>Stateful reasoning</a:t>
            </a:r>
          </a:p>
          <a:p>
            <a:pPr lvl="1"/>
            <a:r>
              <a:t>Enterprise-scale AI systems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Graph-based orchestration</a:t>
            </a:r>
          </a:p>
          <a:p>
            <a:pPr lvl="1"/>
            <a:r>
              <a:t>Stateful workflows</a:t>
            </a:r>
          </a:p>
          <a:p>
            <a:pPr lvl="1"/>
            <a:r>
              <a:t>Production-grade reliability</a:t>
            </a:r>
          </a:p>
          <a:p>
            <a:pPr lvl="1"/>
            <a:r>
              <a:t>Critical for complex AI systems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LangGraph enables scalable, controlled,</a:t>
            </a:r>
          </a:p>
          <a:p>
            <a:pPr lvl="1"/>
            <a:r>
              <a:t>stateful LLM systems suitable for</a:t>
            </a:r>
          </a:p>
          <a:p>
            <a:pPr lvl="1"/>
            <a:r>
              <a:t>enterprise production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3811</Words>
  <Application>WPS Sheets</Application>
  <PresentationFormat>宽屏</PresentationFormat>
  <Paragraphs>245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1" baseType="lpstr">
      <vt:lpstr>Arial</vt:lpstr>
      <vt:lpstr>SimSun</vt:lpstr>
      <vt:lpstr>Wingdings</vt:lpstr>
      <vt:lpstr>张海山锐线体2.0</vt:lpstr>
      <vt:lpstr>冬青黑体简体中文</vt:lpstr>
      <vt:lpstr>方正兰亭超细黑简体</vt:lpstr>
      <vt:lpstr>Century Gothic</vt:lpstr>
      <vt:lpstr>苹方-简</vt:lpstr>
      <vt:lpstr>Microsoft YaHei</vt:lpstr>
      <vt:lpstr>汉仪旗黑</vt:lpstr>
      <vt:lpstr>Arial Unicode MS</vt:lpstr>
      <vt:lpstr>等线 Light</vt:lpstr>
      <vt:lpstr>宋体-简</vt:lpstr>
      <vt:lpstr>等线</vt:lpstr>
      <vt:lpstr>Calibri</vt:lpstr>
      <vt:lpstr>Helvetica Neue</vt:lpstr>
      <vt:lpstr>Calibri</vt:lpstr>
      <vt:lpstr>Cordia New</vt:lpstr>
      <vt:lpstr>黑体-简</vt:lpstr>
      <vt:lpstr>Office 主题​​</vt:lpstr>
      <vt:lpstr>PowerPoint 演示文稿</vt:lpstr>
      <vt:lpstr>Introduction to LangGraph</vt:lpstr>
      <vt:lpstr>Agenda</vt:lpstr>
      <vt:lpstr>Evolution of LLM Applications</vt:lpstr>
      <vt:lpstr>Production Challenges in LLM Systems</vt:lpstr>
      <vt:lpstr>Why LangGraph?</vt:lpstr>
      <vt:lpstr>Why LangGraph?</vt:lpstr>
      <vt:lpstr>What is LangGraph?</vt:lpstr>
      <vt:lpstr>Core Concepts Overview</vt:lpstr>
      <vt:lpstr>State Management</vt:lpstr>
      <vt:lpstr>Nodes</vt:lpstr>
      <vt:lpstr>Edges</vt:lpstr>
      <vt:lpstr>Execution Flow</vt:lpstr>
      <vt:lpstr>Graph vs Chain</vt:lpstr>
      <vt:lpstr>Scalability</vt:lpstr>
      <vt:lpstr>High-Level Architecture</vt:lpstr>
      <vt:lpstr>High-Level Architecture</vt:lpstr>
      <vt:lpstr>High-Level Architecture</vt:lpstr>
      <vt:lpstr>Deterministic + Agent Hybrid Model</vt:lpstr>
      <vt:lpstr>Sequential Pattern</vt:lpstr>
      <vt:lpstr>Conditional Routing Pattern</vt:lpstr>
      <vt:lpstr>Loop Pattern</vt:lpstr>
      <vt:lpstr>Multi-Agent Pattern</vt:lpstr>
      <vt:lpstr>Enterprise RAG Flow</vt:lpstr>
      <vt:lpstr>Tool Orchestration Example</vt:lpstr>
      <vt:lpstr>Observability Benefits</vt:lpstr>
      <vt:lpstr>Error Handling</vt:lpstr>
      <vt:lpstr>Scalability</vt:lpstr>
      <vt:lpstr>When to Use LangGraph</vt:lpstr>
      <vt:lpstr>When Not to Use LangGraph</vt:lpstr>
      <vt:lpstr>FDE Role in LLM Deployments</vt:lpstr>
      <vt:lpstr>Why LangGraph is Valuable for FDEs</vt:lpstr>
      <vt:lpstr>Debugging Advantages</vt:lpstr>
      <vt:lpstr>Governance &amp; Compliance</vt:lpstr>
      <vt:lpstr>Performance Optimization Points</vt:lpstr>
      <vt:lpstr>Integration with RAG Systems</vt:lpstr>
      <vt:lpstr>Integration with Tool Calling</vt:lpstr>
      <vt:lpstr>Production Deployment Architecture</vt:lpstr>
      <vt:lpstr>Future of LLM Orchestration</vt:lpstr>
      <vt:lpstr>Key Takeaways</vt:lpstr>
      <vt:lpstr>Closing Slide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shukranaahmed</cp:lastModifiedBy>
  <cp:revision>59</cp:revision>
  <dcterms:created xsi:type="dcterms:W3CDTF">2026-02-27T09:22:39Z</dcterms:created>
  <dcterms:modified xsi:type="dcterms:W3CDTF">2026-02-27T09:22:39Z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1BECE167731765FBBB5EA1694BE328B9_41</vt:lpwstr>
  </property>
</Properties>
</file>